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6" d="100"/>
          <a:sy n="106" d="100"/>
        </p:scale>
        <p:origin x="-714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7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0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1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1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5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7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4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3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2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725" y="2520255"/>
            <a:ext cx="36385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25453" y="3025080"/>
            <a:ext cx="8741092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202124"/>
                </a:solidFill>
                <a:latin typeface="Poppins"/>
              </a:rPr>
              <a:t>Google Play App 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3785145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5F6368"/>
                </a:solidFill>
                <a:latin typeface="Lato"/>
              </a:rPr>
              <a:t>Transforming Google Play Store Dataset Records into Real-Time Visual Insights via Google Data Studio (Looker Studio) Custom Dashboards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85673" y="2919412"/>
            <a:ext cx="522065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202124"/>
                </a:solidFill>
                <a:latin typeface="Poppins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3805237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5F6368"/>
                </a:solidFill>
                <a:latin typeface="Lato"/>
              </a:rPr>
              <a:t>An end-to-end Looker Studio reporting pipeline analyzing category performance, price sensitivity, app payload size, and user review velocity.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0825"/>
            <a:ext cx="4419600" cy="2038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181350"/>
            <a:ext cx="38290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1A73E8"/>
                </a:solidFill>
                <a:latin typeface="Poppins"/>
              </a:rPr>
              <a:t>10.8K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210050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4EA6"/>
                </a:solidFill>
                <a:latin typeface="Lato"/>
              </a:rPr>
              <a:t>Analyzed App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350" y="3086100"/>
            <a:ext cx="646080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202124"/>
                </a:solidFill>
                <a:latin typeface="Poppins"/>
              </a:rPr>
              <a:t>Freemium Growth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3362325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C4043"/>
                </a:solidFill>
                <a:latin typeface="Lato"/>
              </a:rPr>
              <a:t>Google Data Studio aggregations demonstrate that </a:t>
            </a:r>
            <a:r>
              <a:rPr sz="1350" b="1" i="0" u="none">
                <a:solidFill>
                  <a:srgbClr val="3C4043"/>
                </a:solidFill>
                <a:latin typeface="Lato"/>
              </a:rPr>
              <a:t>92.6% of Play Store apps are Free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, accounting for over </a:t>
            </a:r>
            <a:r>
              <a:rPr sz="1350" b="1" i="0" u="none">
                <a:solidFill>
                  <a:srgbClr val="3C4043"/>
                </a:solidFill>
                <a:latin typeface="Lato"/>
              </a:rPr>
              <a:t>98.4% of total download volume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4019550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C4043"/>
                </a:solidFill>
                <a:latin typeface="Lato"/>
              </a:rPr>
              <a:t>Upfront payment models create heavy install friction. Long-term app monetization depends on freemium upsells, recurring subscriptions, and targeted ad placements.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02124"/>
                </a:solidFill>
                <a:latin typeface="Poppins"/>
              </a:rPr>
              <a:t>Market Landscape Snapshot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00250"/>
            <a:ext cx="5310187" cy="51435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C4043"/>
                </a:solidFill>
                <a:latin typeface="Lato"/>
              </a:rPr>
              <a:t>Data Source Connector: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 Native integration connecting Google Sheets/BigQuery CSV payloads directly into Looker Studio schema.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667000"/>
            <a:ext cx="5310187" cy="51435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C4043"/>
                </a:solidFill>
                <a:latin typeface="Lato"/>
              </a:rPr>
              <a:t>Calculated Fields: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 Constructed custom metrics using </a:t>
            </a:r>
            <a:r>
              <a:rPr sz="1350" b="0" i="0" u="none">
                <a:solidFill>
                  <a:srgbClr val="1A73E8"/>
                </a:solidFill>
                <a:latin typeface="Lato"/>
              </a:rPr>
              <a:t>CASE WHEN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 logic for size tiering, rating bins, and estimated total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33750"/>
            <a:ext cx="5310187" cy="5143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C4043"/>
                </a:solidFill>
                <a:latin typeface="Lato"/>
              </a:rPr>
              <a:t>Interactive Controls: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 Deployed drop-down category filters, metric sliders, and scorecards for dynamic executive exploration.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2000250"/>
            <a:ext cx="5310187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43112"/>
            <a:ext cx="1333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09862"/>
            <a:ext cx="1333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76612"/>
            <a:ext cx="17145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02124"/>
                </a:solidFill>
                <a:latin typeface="Poppins"/>
              </a:rPr>
              <a:t>GDS / Looker Studio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47975"/>
            <a:ext cx="5310187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12" y="2847975"/>
            <a:ext cx="5310187" cy="1924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0875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73E8"/>
                </a:solidFill>
                <a:latin typeface="Poppins"/>
              </a:rPr>
              <a:t>1. Red Oceans (High Saturation)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6243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C4043"/>
                </a:solidFill>
                <a:latin typeface="Lato"/>
              </a:rPr>
              <a:t>Family &amp; Game categories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 represent ~35% of total store app listings (~3,800 apps). Saturated markets require steep User Acquisition (UA) ad spend to gain organic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3212" y="3190875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73E8"/>
                </a:solidFill>
                <a:latin typeface="Poppins"/>
              </a:rPr>
              <a:t>2. Blue Oceans (High Intent)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3212" y="3657600"/>
            <a:ext cx="46243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C4043"/>
                </a:solidFill>
                <a:latin typeface="Lato"/>
              </a:rPr>
              <a:t>Finance, Health &amp; Fitness, and Productivity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 show exceptional install-per-app ratios. Users demonstrate stronger intent and higher lifetime value (LTV) in utility niches.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02124"/>
                </a:solidFill>
                <a:latin typeface="Poppins"/>
              </a:rPr>
              <a:t>Category Opportunity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491037"/>
            <a:ext cx="11049000" cy="781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624387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3C4043"/>
                </a:solidFill>
                <a:latin typeface="Lato"/>
              </a:rPr>
              <a:t>GDS Interactive Bar Chart: Free apps generate 90x more install volume than $0.99 apps. Mobile roadmap must prioritize zero-friction download funnels paired with dynamic in-app upgrades.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491037"/>
            <a:ext cx="38100" cy="781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02124"/>
                </a:solidFill>
                <a:latin typeface="Poppins"/>
              </a:rPr>
              <a:t>Downloads Across Price Tiers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3530649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0787"/>
            <a:ext cx="3530649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0787"/>
            <a:ext cx="3530649" cy="2638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6701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02124"/>
                </a:solidFill>
                <a:latin typeface="Poppins"/>
              </a:rPr>
              <a:t>Rating Benchmark (4.2+)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C4043"/>
                </a:solidFill>
                <a:latin typeface="Lato"/>
              </a:rPr>
              <a:t>Apps rated above 4.2 capture </a:t>
            </a:r>
            <a:r>
              <a:rPr sz="1350" b="1" i="0" u="none">
                <a:solidFill>
                  <a:srgbClr val="3C4043"/>
                </a:solidFill>
                <a:latin typeface="Lato"/>
              </a:rPr>
              <a:t>85%+ of total store downloads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. Falling below 4.0 cuts conversion rate by over 50% on search impressions.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67012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02124"/>
                </a:solidFill>
                <a:latin typeface="Poppins"/>
              </a:rPr>
              <a:t>Size Sensitivity (&lt; 30MB)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C4043"/>
                </a:solidFill>
                <a:latin typeface="Lato"/>
              </a:rPr>
              <a:t>App binary sizes under 30MB achieve </a:t>
            </a:r>
            <a:r>
              <a:rPr sz="1350" b="1" i="0" u="none">
                <a:solidFill>
                  <a:srgbClr val="3C4043"/>
                </a:solidFill>
                <a:latin typeface="Lato"/>
              </a:rPr>
              <a:t>2.4x higher conversion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 in emerging markets where storage and data caps remain strict.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6701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02124"/>
                </a:solidFill>
                <a:latin typeface="Poppins"/>
              </a:rPr>
              <a:t>Monthly Update Rhythm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C4043"/>
                </a:solidFill>
                <a:latin typeface="Lato"/>
              </a:rPr>
              <a:t>Apps updated at least monthly show </a:t>
            </a:r>
            <a:r>
              <a:rPr sz="1350" b="1" i="0" u="none">
                <a:solidFill>
                  <a:srgbClr val="3C4043"/>
                </a:solidFill>
                <a:latin typeface="Lato"/>
              </a:rPr>
              <a:t>38% higher 90-day retention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, benefiting from active algorithmic boosting in store rankings.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890837"/>
            <a:ext cx="2762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799" y="2890837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890837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02124"/>
                </a:solidFill>
                <a:latin typeface="Poppins"/>
              </a:rPr>
              <a:t>Core App Success Drivers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794776"/>
              </p:ext>
            </p:extLst>
          </p:nvPr>
        </p:nvGraphicFramePr>
        <p:xfrm>
          <a:off x="571500" y="2274093"/>
          <a:ext cx="11048998" cy="307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984"/>
                <a:gridCol w="1765845"/>
                <a:gridCol w="1579959"/>
                <a:gridCol w="3078807"/>
                <a:gridCol w="2463403"/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Category Sector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App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Rating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Monetization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Looker Studio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124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C4043"/>
                          </a:solidFill>
                          <a:latin typeface="Lato"/>
                        </a:rPr>
                        <a:t>Game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64.3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4.28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In-App Purchases (IAP) + 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C4043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C4043"/>
                          </a:solidFill>
                          <a:latin typeface="Lato"/>
                        </a:rPr>
                        <a:t>Finance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28.1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4.13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Freemium Subscriptions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C4043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C4043"/>
                          </a:solidFill>
                          <a:latin typeface="Lato"/>
                        </a:rPr>
                        <a:t>Health &amp; Fitness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31.5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4.25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Monthly Tiered Plans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C4043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C4043"/>
                          </a:solidFill>
                          <a:latin typeface="Lato"/>
                        </a:rPr>
                        <a:t>Tools &amp; Utilities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18.2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4.04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In-App Ad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C4043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7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C4043"/>
                          </a:solidFill>
                          <a:latin typeface="Lato"/>
                        </a:rPr>
                        <a:t>Family &amp; Casual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42.7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4.19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C4043"/>
                          </a:solidFill>
                          <a:latin typeface="Lato"/>
                        </a:rPr>
                        <a:t>Hybrid Ad &amp; Micro-IAP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C4043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59868"/>
            <a:ext cx="2160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32484" y="2759868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98330" y="2759868"/>
            <a:ext cx="15799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78289" y="2759868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57096" y="2759868"/>
            <a:ext cx="2463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74218"/>
            <a:ext cx="2160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32484" y="3274218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98330" y="3274218"/>
            <a:ext cx="15799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78289" y="3274218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57096" y="3274218"/>
            <a:ext cx="2463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788568"/>
            <a:ext cx="2160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32484" y="3788568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98330" y="3788568"/>
            <a:ext cx="15799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78289" y="3788568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57096" y="3788568"/>
            <a:ext cx="2463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302918"/>
            <a:ext cx="2160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32484" y="4302918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98330" y="4302918"/>
            <a:ext cx="15799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78289" y="4302918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57096" y="4302918"/>
            <a:ext cx="2463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4817268"/>
            <a:ext cx="2160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32484" y="4817268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98330" y="4817268"/>
            <a:ext cx="15799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78289" y="4817268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57096" y="4817268"/>
            <a:ext cx="2463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5331618"/>
            <a:ext cx="2160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32484" y="5331618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98330" y="5331618"/>
            <a:ext cx="15799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78289" y="5331618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57096" y="5331618"/>
            <a:ext cx="2463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596" y="2926556"/>
            <a:ext cx="13525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596" y="3440906"/>
            <a:ext cx="11430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7596" y="3955256"/>
            <a:ext cx="1400175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596" y="4469606"/>
            <a:ext cx="1047750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7596" y="4983956"/>
            <a:ext cx="106680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02124"/>
                </a:solidFill>
                <a:latin typeface="Poppins"/>
              </a:rPr>
              <a:t>Category Performance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02124"/>
                </a:solidFill>
                <a:latin typeface="Poppins"/>
              </a:rPr>
              <a:t>User Review Sentiment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38250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202124"/>
                </a:solidFill>
                <a:latin typeface="Poppins"/>
              </a:rPr>
              <a:t>Social Proof 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1447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C4043"/>
                </a:solidFill>
                <a:latin typeface="Lato"/>
              </a:rPr>
              <a:t>Review velocity directly dictates algorithm ranking on Google Play search. Unlocking </a:t>
            </a:r>
            <a:r>
              <a:rPr sz="1350" b="1" i="0" u="none">
                <a:solidFill>
                  <a:srgbClr val="3C4043"/>
                </a:solidFill>
                <a:latin typeface="Lato"/>
              </a:rPr>
              <a:t>10,000+ positive reviews</a:t>
            </a:r>
            <a:r>
              <a:rPr sz="1350" b="0" i="0" u="none">
                <a:solidFill>
                  <a:srgbClr val="3C4043"/>
                </a:solidFill>
                <a:latin typeface="Lato"/>
              </a:rPr>
              <a:t> creates a self-sustaining viral organic acquisition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89745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C4043"/>
                </a:solidFill>
                <a:latin typeface="Lato"/>
              </a:rPr>
              <a:t>Deploying smart in-app rating prompts during moments of delight (e.g., milestone completion) increases positive review conversion by 3x.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9562"/>
            <a:ext cx="2541240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109787"/>
            <a:ext cx="2541240" cy="1533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19562"/>
            <a:ext cx="2541240" cy="125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109787"/>
            <a:ext cx="2541240" cy="1533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28148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A73E8"/>
                </a:solidFill>
                <a:latin typeface="Poppins"/>
              </a:rPr>
              <a:t>Q1 - Pipeline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1486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C4043"/>
                </a:solidFill>
                <a:latin typeface="Lato"/>
              </a:rPr>
              <a:t>Connect Google Play store CSV data into Google Data Studio via Sheets/BigQuery connectors.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A73E8"/>
                </a:solidFill>
                <a:latin typeface="Poppins"/>
              </a:rPr>
              <a:t>Q2 - Interactive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C4043"/>
                </a:solidFill>
                <a:latin typeface="Lato"/>
              </a:rPr>
              <a:t>Deploy custom calculated fields, dynamic metric sliders, and category drop-down filters.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28148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A73E8"/>
                </a:solidFill>
                <a:latin typeface="Poppins"/>
              </a:rPr>
              <a:t>Q3 - Automated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61486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C4043"/>
                </a:solidFill>
                <a:latin typeface="Lato"/>
              </a:rPr>
              <a:t>Configure automated scheduled email reports for rating drops and sentiment shifts.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A73E8"/>
                </a:solidFill>
                <a:latin typeface="Poppins"/>
              </a:rPr>
              <a:t>Q4 - Embedded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C4043"/>
                </a:solidFill>
                <a:latin typeface="Lato"/>
              </a:rPr>
              <a:t>Embed live Looker Studio dashboards into internal team portals for real-time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4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326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918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510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02124"/>
                </a:solidFill>
                <a:latin typeface="Poppins"/>
              </a:rPr>
              <a:t>Product Growth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02124"/>
                </a:solidFill>
                <a:latin typeface="Poppins"/>
              </a:rPr>
              <a:t>Lean UX &amp; Payload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5F6368"/>
                </a:solidFill>
                <a:latin typeface="Lato"/>
              </a:rPr>
              <a:t>Keep binary size under 30MB and streamline initial onboarding to prevent immediate user uninstalls.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74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02124"/>
                </a:solidFill>
                <a:latin typeface="Poppins"/>
              </a:rPr>
              <a:t>Looker Studio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074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5F6368"/>
                </a:solidFill>
                <a:latin typeface="Lato"/>
              </a:rPr>
              <a:t>Track real-time KPI alerts for rating drops, review sentiment shifts, and category trend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999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02124"/>
                </a:solidFill>
                <a:latin typeface="Poppins"/>
              </a:rPr>
              <a:t>Freemium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999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5F6368"/>
                </a:solidFill>
                <a:latin typeface="Lato"/>
              </a:rPr>
              <a:t>Maximize top-of-funnel reach with free downloads while driving high LTV via tiered subscriptions.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5056"/>
            <a:ext cx="3530649" cy="2000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55056"/>
            <a:ext cx="3530649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5056"/>
            <a:ext cx="3530649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02124"/>
                </a:solidFill>
                <a:latin typeface="Poppins"/>
              </a:rPr>
              <a:t>Strategic Growth Pillars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621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4</cp:revision>
  <dcterms:created xsi:type="dcterms:W3CDTF">2013-01-27T09:14:16Z</dcterms:created>
  <dcterms:modified xsi:type="dcterms:W3CDTF">2026-09-03T04:34:29Z</dcterms:modified>
  <cp:category/>
</cp:coreProperties>
</file>